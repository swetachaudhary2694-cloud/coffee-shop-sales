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8851-FF3C-AF3C-E660-E90538628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3CC25-197C-415E-D2F8-07A9F37AD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281FF-22E5-D624-BFB0-E3D21ADB4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6080-80F4-4207-B2D2-5230E3ECE027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CC6C6-5504-7A39-6B5F-E55FBA369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8D1C3-93A8-E7CA-1466-2C4FE802C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71077-8E3C-44EA-93FE-6D31DF3E3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17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EA2D-60CD-E5BB-BF46-17D5097E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C22C8-CD5E-4E43-B1F6-92C2AB96C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5DFBB-E8AE-5228-20B8-A78840E35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6080-80F4-4207-B2D2-5230E3ECE027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C742E-E5CF-E74F-F2A6-31C4DB0B2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AEC75-C6FE-B642-5678-DD3BE748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71077-8E3C-44EA-93FE-6D31DF3E3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1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7F4C1-5871-BF73-FCB9-E7449A918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DB358-A645-7482-2A22-A9F38A1F1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36CE5-32B4-BC5D-FED8-9FF13970A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6080-80F4-4207-B2D2-5230E3ECE027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48371-034C-DA47-D552-5F461BD3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C973E-DAD8-A271-88E9-DBC0039C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71077-8E3C-44EA-93FE-6D31DF3E3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9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DFD06-8F98-B2DC-52B2-37068B24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80AF2-E874-6D81-DB94-76B0218D3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7EB35-7763-BA25-4CF1-1DBE43960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4C2E7-318B-F972-54D3-2624624E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6080-80F4-4207-B2D2-5230E3ECE027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6269F-8559-AF4F-59D3-1AF34214D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B47AD-2A07-29E2-9F04-96EFFB35E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71077-8E3C-44EA-93FE-6D31DF3E3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64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ED581-EBE2-542F-5202-5846DF31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B61B1-FEB0-1952-8D18-9156FD29E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40E58-A16B-E46A-C7F2-F4B2103C1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432A9C-CDF3-9CEB-419E-39D6367AE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3741AC-2BE8-8329-BC11-99407E90B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974B33-CF78-2192-23F3-DD7BF3D68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6080-80F4-4207-B2D2-5230E3ECE027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0C12DB-103E-60ED-7D74-92D4A9CA3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8EBD0-1F49-315D-7A6D-B8971FCA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71077-8E3C-44EA-93FE-6D31DF3E3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36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F1FD-D66E-68A1-B259-1068C8104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97BB44-87D5-1F67-150C-E99E83E1A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6080-80F4-4207-B2D2-5230E3ECE027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2168E-FCC3-736B-2FE6-9721254A2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62E2A2-196C-9E3E-D62B-6313AA57A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71077-8E3C-44EA-93FE-6D31DF3E3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8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966948-E905-426B-03E2-DDAAA329C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6080-80F4-4207-B2D2-5230E3ECE027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B0173A-A332-7609-05E3-04BD767A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F3B3D-FB50-3A20-A856-EB3F7889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71077-8E3C-44EA-93FE-6D31DF3E3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87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E119A-90DB-4FFF-65B0-45F4E3AB8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4AC89-D85E-FF06-91A5-178C121C7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64799-EF75-D9DB-D156-6D867871F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42D5C-249A-047F-E515-699104F8B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6080-80F4-4207-B2D2-5230E3ECE027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6C6CF-3862-6030-E6A3-26DC6FBBA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68B70-6D52-E3E9-7DCD-4E6A1C6C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71077-8E3C-44EA-93FE-6D31DF3E3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64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8EF5C-964B-0459-4647-0E17FD3FE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552BC9-3296-A663-1F3D-11FDD49A04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91E3A5-648B-357C-933B-067E15733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BC97D-4F38-6C98-2249-AF861AF7A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6080-80F4-4207-B2D2-5230E3ECE027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CFFAB-5DE7-ABBC-B937-5E83A5C4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B6C5A-AB9A-EF28-25EB-5FAD40346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71077-8E3C-44EA-93FE-6D31DF3E3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8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8FE35-45A5-0F36-9B96-954950657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E43D8-A5B9-E884-C0CB-70C79F67C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008C0-1F4D-865A-A0F3-663E3156B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6080-80F4-4207-B2D2-5230E3ECE027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41E0F-0A67-48F3-3B3C-96ED1EEAA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4C55-3AA6-1513-F3BE-67B58618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71077-8E3C-44EA-93FE-6D31DF3E3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32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3D52C-5A7D-4BD2-5A1D-CB3D33B791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9FE4-6586-0A46-13F1-FB5340F3E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BA181-D0F7-C467-F0FA-A04FFF9EF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76080-80F4-4207-B2D2-5230E3ECE027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B84BB-5A2C-A20C-664C-78A151F9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752BD-D7D1-17CB-9825-3EFE67AB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71077-8E3C-44EA-93FE-6D31DF3E3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69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A9B061-E7FA-47DD-E9AB-5E0A2F0E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27553-0E2C-546D-CC22-F0B74BD42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4F363-6004-ABC3-7336-9F39E0053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576080-80F4-4207-B2D2-5230E3ECE027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6CFB8-798C-C105-FBA9-D78867CCA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18E2E-74C3-4D04-7575-CC87A47D3A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B71077-8E3C-44EA-93FE-6D31DF3E3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3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owlandpasaribu.wordpress.com/tag/sustainable-coffee-trade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owlandpasaribu.wordpress.com/tag/sustainable-coffee-trade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/3.0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owlandpasaribu.wordpress.com/tag/sustainable-coffee-trade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owlandpasaribu.wordpress.com/tag/sustainable-coffee-trade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F4E0B1-E0C2-86D8-1FF7-C6782153169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5730"/>
          <a:stretch>
            <a:fillRect/>
          </a:stretch>
        </p:blipFill>
        <p:spPr>
          <a:xfrm>
            <a:off x="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29FE44-06AC-F66F-0BD2-90C58721C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1"/>
            <a:ext cx="5746230" cy="3037041"/>
          </a:xfrm>
        </p:spPr>
        <p:txBody>
          <a:bodyPr>
            <a:normAutofit/>
          </a:bodyPr>
          <a:lstStyle/>
          <a:p>
            <a:r>
              <a:rPr lang="en-US" sz="2700" spc="58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The</a:t>
            </a:r>
            <a:r>
              <a:rPr lang="en-US" sz="2700" spc="2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5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main</a:t>
            </a:r>
            <a:r>
              <a:rPr lang="en-US" sz="2700" spc="2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33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objective</a:t>
            </a:r>
            <a:r>
              <a:rPr lang="en-US" sz="2700" spc="2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44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of </a:t>
            </a:r>
            <a:r>
              <a:rPr lang="en-US" sz="2700" spc="26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this</a:t>
            </a:r>
            <a:r>
              <a:rPr lang="en-US" sz="2700" spc="28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32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project</a:t>
            </a:r>
            <a:r>
              <a:rPr lang="en-US" sz="2700" spc="2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17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is</a:t>
            </a:r>
            <a:r>
              <a:rPr lang="en-US" sz="2700" spc="2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32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to</a:t>
            </a:r>
            <a:r>
              <a:rPr lang="en-US" sz="2700" spc="2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36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analyze </a:t>
            </a:r>
            <a:r>
              <a:rPr lang="en-US" sz="2700" spc="24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retail</a:t>
            </a:r>
            <a:r>
              <a:rPr lang="en-US" sz="2700" spc="28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204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sales</a:t>
            </a:r>
            <a:r>
              <a:rPr lang="en-US" sz="2700" spc="28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2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data</a:t>
            </a:r>
            <a:r>
              <a:rPr lang="en-US" sz="2700" spc="28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32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to</a:t>
            </a:r>
            <a:r>
              <a:rPr lang="en-US" sz="2700" spc="28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34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gain </a:t>
            </a:r>
            <a:r>
              <a:rPr lang="en-US" sz="2700" spc="33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actionable</a:t>
            </a:r>
            <a:r>
              <a:rPr lang="en-US" sz="2700" spc="30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2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insights</a:t>
            </a:r>
            <a:r>
              <a:rPr lang="en-US" sz="2700" spc="31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26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that </a:t>
            </a:r>
            <a:r>
              <a:rPr lang="en-US" sz="2700" spc="24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will</a:t>
            </a:r>
            <a:r>
              <a:rPr lang="en-US" sz="2700" spc="28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42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enhance</a:t>
            </a:r>
            <a:r>
              <a:rPr lang="en-US" sz="2700" spc="2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32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the </a:t>
            </a:r>
            <a:r>
              <a:rPr lang="en-US" sz="2700" spc="43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performance</a:t>
            </a:r>
            <a:r>
              <a:rPr lang="en-US" sz="2700" spc="2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46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of</a:t>
            </a:r>
            <a:r>
              <a:rPr lang="en-US" sz="2700" spc="2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32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the </a:t>
            </a:r>
            <a:r>
              <a:rPr lang="en-US" sz="2700" spc="50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Coffee</a:t>
            </a:r>
            <a:r>
              <a:rPr lang="en-US" sz="2700" spc="28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z="2700" spc="46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Shop.</a:t>
            </a:r>
            <a:br>
              <a:rPr lang="en-US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</a:br>
            <a:endParaRPr lang="en-US" sz="36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8489C-BAFA-F289-F4D7-5BCC4177A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19790" y="4387635"/>
            <a:ext cx="7919803" cy="1121065"/>
          </a:xfrm>
        </p:spPr>
        <p:txBody>
          <a:bodyPr>
            <a:normAutofit/>
          </a:bodyPr>
          <a:lstStyle/>
          <a:p>
            <a:r>
              <a:rPr lang="en-US" sz="2800" spc="-26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Start</a:t>
            </a:r>
            <a:r>
              <a:rPr lang="en-US" sz="2800" spc="-254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lang="en-US" sz="2800" spc="-345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Your</a:t>
            </a:r>
            <a:r>
              <a:rPr lang="en-US" sz="2800" spc="-254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lang="en-US" sz="2800" spc="-355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Day</a:t>
            </a:r>
            <a:r>
              <a:rPr lang="en-US" sz="2800" spc="-254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lang="en-US" sz="2800" spc="-34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With</a:t>
            </a:r>
            <a:r>
              <a:rPr lang="en-US" sz="2800" spc="-254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 </a:t>
            </a:r>
            <a:r>
              <a:rPr lang="en-US" sz="2800" spc="-385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Coffee</a:t>
            </a:r>
            <a:endParaRPr lang="en-US" sz="2800" dirty="0">
              <a:solidFill>
                <a:schemeClr val="accent2">
                  <a:lumMod val="40000"/>
                  <a:lumOff val="6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DBC31F-7A61-F071-790F-8C4A08DC02EE}"/>
              </a:ext>
            </a:extLst>
          </p:cNvPr>
          <p:cNvSpPr txBox="1"/>
          <p:nvPr/>
        </p:nvSpPr>
        <p:spPr>
          <a:xfrm>
            <a:off x="9737482" y="6657945"/>
            <a:ext cx="245451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rowlandpasaribu.wordpress.com/tag/sustainable-coffee-trade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397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E242BA-4961-A283-B121-448ED59C6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A1BECF-9FA3-9974-C05E-2C2975B02E77}"/>
              </a:ext>
            </a:extLst>
          </p:cNvPr>
          <p:cNvSpPr txBox="1"/>
          <p:nvPr/>
        </p:nvSpPr>
        <p:spPr>
          <a:xfrm>
            <a:off x="9737482" y="6657945"/>
            <a:ext cx="245451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rowlandpasaribu.wordpress.com/tag/sustainable-coffee-trade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87FDC20F-C0B2-DD3D-8699-6DDC85DAAC5A}"/>
              </a:ext>
            </a:extLst>
          </p:cNvPr>
          <p:cNvSpPr/>
          <p:nvPr/>
        </p:nvSpPr>
        <p:spPr>
          <a:xfrm>
            <a:off x="2479475" y="208591"/>
            <a:ext cx="5036949" cy="1115878"/>
          </a:xfrm>
          <a:prstGeom prst="left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Recommended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0446AF-8172-2CEB-1120-7D59D45CBC9B}"/>
              </a:ext>
            </a:extLst>
          </p:cNvPr>
          <p:cNvSpPr txBox="1"/>
          <p:nvPr/>
        </p:nvSpPr>
        <p:spPr>
          <a:xfrm>
            <a:off x="134912" y="1753849"/>
            <a:ext cx="6385810" cy="4970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spc="4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How</a:t>
            </a:r>
            <a:r>
              <a:rPr lang="en-US" spc="1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33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do</a:t>
            </a:r>
            <a:r>
              <a:rPr lang="en-US" spc="1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13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sales</a:t>
            </a:r>
            <a:r>
              <a:rPr lang="en-US" spc="1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4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vary</a:t>
            </a:r>
            <a:r>
              <a:rPr lang="en-US" spc="1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32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by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8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day</a:t>
            </a:r>
            <a:r>
              <a:rPr lang="en-US" spc="1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31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of</a:t>
            </a:r>
            <a:r>
              <a:rPr lang="en-US" spc="1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04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the </a:t>
            </a:r>
            <a:r>
              <a:rPr lang="en-US" spc="22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week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8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and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hour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31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of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29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the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17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day?</a:t>
            </a:r>
          </a:p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spc="26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Are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1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there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any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4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peak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4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times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6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for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12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sales </a:t>
            </a:r>
            <a:r>
              <a:rPr lang="en-US" spc="16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activity?</a:t>
            </a: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  <a:latin typeface="Cambria"/>
              <a:cs typeface="Cambria"/>
            </a:endParaRPr>
          </a:p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spc="33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What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114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is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29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the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17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total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13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sales</a:t>
            </a:r>
            <a:r>
              <a:rPr lang="en-US" spc="2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54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revenue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3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for </a:t>
            </a:r>
            <a:r>
              <a:rPr lang="en-US" spc="254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each</a:t>
            </a:r>
            <a:r>
              <a:rPr lang="en-US" spc="1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8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month?</a:t>
            </a: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  <a:latin typeface="Cambria"/>
              <a:cs typeface="Cambria"/>
            </a:endParaRPr>
          </a:p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spc="4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How</a:t>
            </a:r>
            <a:r>
              <a:rPr lang="en-US" spc="1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33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do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13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sales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4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vary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17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across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2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different </a:t>
            </a:r>
            <a:r>
              <a:rPr lang="en-US" spc="17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store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17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locations?</a:t>
            </a: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  <a:latin typeface="Cambria"/>
              <a:cs typeface="Cambria"/>
            </a:endParaRPr>
          </a:p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spc="21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what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114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is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29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the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1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average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1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price/order </a:t>
            </a:r>
            <a:r>
              <a:rPr lang="en-US" spc="23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per</a:t>
            </a:r>
            <a:r>
              <a:rPr lang="en-US" spc="1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29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person</a:t>
            </a: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  <a:latin typeface="Cambria"/>
              <a:cs typeface="Cambria"/>
            </a:endParaRPr>
          </a:p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spc="37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Which</a:t>
            </a:r>
            <a:r>
              <a:rPr lang="en-US" spc="2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29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products</a:t>
            </a:r>
            <a:r>
              <a:rPr lang="en-US" spc="2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18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are </a:t>
            </a:r>
            <a:r>
              <a:rPr lang="en-US" spc="229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the</a:t>
            </a:r>
            <a:r>
              <a:rPr lang="en-US" spc="2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best-selling</a:t>
            </a:r>
            <a:r>
              <a:rPr lang="en-US" spc="2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6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in</a:t>
            </a:r>
            <a:r>
              <a:rPr lang="en-US" spc="2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4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terms</a:t>
            </a:r>
            <a:r>
              <a:rPr lang="en-US" spc="2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31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of</a:t>
            </a:r>
            <a:r>
              <a:rPr lang="en-US" spc="2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29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quantity</a:t>
            </a:r>
            <a:r>
              <a:rPr lang="en-US" spc="204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54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and </a:t>
            </a:r>
            <a:r>
              <a:rPr lang="en-US" spc="2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revenue?</a:t>
            </a: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  <a:latin typeface="Cambria"/>
              <a:cs typeface="Cambria"/>
            </a:endParaRPr>
          </a:p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spc="4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How</a:t>
            </a:r>
            <a:r>
              <a:rPr lang="en-US" spc="1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33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do</a:t>
            </a:r>
            <a:r>
              <a:rPr lang="en-US" spc="1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13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sales</a:t>
            </a:r>
            <a:r>
              <a:rPr lang="en-US" spc="1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4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vary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32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by</a:t>
            </a:r>
            <a:r>
              <a:rPr lang="en-US" spc="19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4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product </a:t>
            </a:r>
            <a:r>
              <a:rPr lang="en-US" spc="23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category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28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and</a:t>
            </a:r>
            <a:r>
              <a:rPr lang="en-US" spc="19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</a:t>
            </a:r>
            <a:r>
              <a:rPr lang="en-US" spc="175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type?</a:t>
            </a:r>
          </a:p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endParaRPr lang="en-US" spc="175" dirty="0">
              <a:solidFill>
                <a:schemeClr val="accent2">
                  <a:lumMod val="20000"/>
                  <a:lumOff val="80000"/>
                </a:schemeClr>
              </a:solidFill>
              <a:latin typeface="Cambria"/>
              <a:cs typeface="Cambria"/>
            </a:endParaRPr>
          </a:p>
          <a:p>
            <a:pPr marL="12700" marR="456565">
              <a:lnSpc>
                <a:spcPct val="116100"/>
              </a:lnSpc>
              <a:spcBef>
                <a:spcPts val="100"/>
              </a:spcBef>
            </a:pP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  <a:latin typeface="Cambria"/>
              <a:cs typeface="Cambri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153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15D51-29A7-B75F-4664-AB9420A2B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AE17998-A0EA-923B-7D89-E63F84E30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788A48-8BC7-C53A-7E0F-4F65AE889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A96A6C-D907-12F8-1AEB-A7F1E8F16C5C}"/>
              </a:ext>
            </a:extLst>
          </p:cNvPr>
          <p:cNvSpPr txBox="1"/>
          <p:nvPr/>
        </p:nvSpPr>
        <p:spPr>
          <a:xfrm>
            <a:off x="9737482" y="6657945"/>
            <a:ext cx="245451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rowlandpasaribu.wordpress.com/tag/sustainable-coffee-trade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CD01E87C-1790-B3CB-4619-BD62D65D05E3}"/>
              </a:ext>
            </a:extLst>
          </p:cNvPr>
          <p:cNvSpPr/>
          <p:nvPr/>
        </p:nvSpPr>
        <p:spPr>
          <a:xfrm>
            <a:off x="2479475" y="208591"/>
            <a:ext cx="5036949" cy="1115878"/>
          </a:xfrm>
          <a:prstGeom prst="left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Insights After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59F75-5F64-1092-D2AF-F3EA2B30742F}"/>
              </a:ext>
            </a:extLst>
          </p:cNvPr>
          <p:cNvSpPr txBox="1"/>
          <p:nvPr/>
        </p:nvSpPr>
        <p:spPr>
          <a:xfrm>
            <a:off x="134912" y="1753850"/>
            <a:ext cx="6325849" cy="5599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spc="4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After analysis, Monthly Sales revenue significantly increase from $81.7K to $166.5K in June, While February month has the lowest sales revenue.</a:t>
            </a:r>
          </a:p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endParaRPr lang="en-US" spc="400" dirty="0">
              <a:solidFill>
                <a:schemeClr val="accent2">
                  <a:lumMod val="20000"/>
                  <a:lumOff val="80000"/>
                </a:schemeClr>
              </a:solidFill>
              <a:latin typeface="Cambria"/>
              <a:cs typeface="Cambria"/>
            </a:endParaRPr>
          </a:p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spc="4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In Moring hours 7AM – 10AM received maximum sales, with 10AM generate highest sales revenue.</a:t>
            </a:r>
          </a:p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endParaRPr lang="en-US" spc="400" dirty="0">
              <a:solidFill>
                <a:schemeClr val="accent2">
                  <a:lumMod val="20000"/>
                  <a:lumOff val="80000"/>
                </a:schemeClr>
              </a:solidFill>
              <a:latin typeface="Cambria"/>
              <a:cs typeface="Cambria"/>
            </a:endParaRPr>
          </a:p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spc="4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All location performed a balanced sales, while Hell’s Kitchen has the highest sales.</a:t>
            </a:r>
          </a:p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endParaRPr lang="en-US" spc="400" dirty="0">
              <a:latin typeface="Cambria"/>
              <a:cs typeface="Cambria"/>
            </a:endParaRPr>
          </a:p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endParaRPr lang="en-US" spc="175" dirty="0">
              <a:solidFill>
                <a:schemeClr val="accent2">
                  <a:lumMod val="20000"/>
                  <a:lumOff val="80000"/>
                </a:schemeClr>
              </a:solidFill>
              <a:latin typeface="Cambria"/>
              <a:cs typeface="Cambria"/>
            </a:endParaRPr>
          </a:p>
          <a:p>
            <a:pPr marL="12700" marR="456565">
              <a:lnSpc>
                <a:spcPct val="116100"/>
              </a:lnSpc>
              <a:spcBef>
                <a:spcPts val="100"/>
              </a:spcBef>
            </a:pP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  <a:latin typeface="Cambria"/>
              <a:cs typeface="Cambri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450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1EA4FA-A8E9-92AB-A94A-2C343556D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6050FF-B38E-44AD-8756-A2404D769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83F05F-4C8C-4FEE-B6EF-99514BC6F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239883-D648-ACB9-47D5-057F5B389496}"/>
              </a:ext>
            </a:extLst>
          </p:cNvPr>
          <p:cNvSpPr txBox="1"/>
          <p:nvPr/>
        </p:nvSpPr>
        <p:spPr>
          <a:xfrm>
            <a:off x="9737482" y="6657945"/>
            <a:ext cx="245451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rowlandpasaribu.wordpress.com/tag/sustainable-coffee-trade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700">
              <a:solidFill>
                <a:srgbClr val="FFFFFF"/>
              </a:solidFill>
            </a:endParaRPr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89DBED4C-FFEC-162F-2DE5-5A33095DFE6A}"/>
              </a:ext>
            </a:extLst>
          </p:cNvPr>
          <p:cNvSpPr/>
          <p:nvPr/>
        </p:nvSpPr>
        <p:spPr>
          <a:xfrm>
            <a:off x="2479475" y="208591"/>
            <a:ext cx="5036949" cy="1115878"/>
          </a:xfrm>
          <a:prstGeom prst="left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20000"/>
                    <a:lumOff val="8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Insights After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8DD20E-49F6-79AE-0D89-F397C6D5316D}"/>
              </a:ext>
            </a:extLst>
          </p:cNvPr>
          <p:cNvSpPr txBox="1"/>
          <p:nvPr/>
        </p:nvSpPr>
        <p:spPr>
          <a:xfrm>
            <a:off x="134912" y="1753850"/>
            <a:ext cx="6325849" cy="4289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27050" marR="456565" indent="-5143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spc="4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Coffee &amp; Tea are the bestselling products, together they generate approx. 67% of total sales revenue.</a:t>
            </a:r>
          </a:p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endParaRPr lang="en-US" spc="400" dirty="0">
              <a:solidFill>
                <a:schemeClr val="accent2">
                  <a:lumMod val="20000"/>
                  <a:lumOff val="80000"/>
                </a:schemeClr>
              </a:solidFill>
              <a:latin typeface="Cambria"/>
              <a:cs typeface="Cambria"/>
            </a:endParaRPr>
          </a:p>
          <a:p>
            <a:pPr marL="527050" marR="456565" indent="-5143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spc="40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 Overall </a:t>
            </a:r>
            <a:r>
              <a:rPr lang="en-US" spc="4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mbria"/>
                <a:cs typeface="Cambria"/>
              </a:rPr>
              <a:t>weekday sales &amp; orders are relatively balanced, while Saturday has the minimum sales &amp; order.</a:t>
            </a:r>
          </a:p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endParaRPr lang="en-US" spc="400" dirty="0">
              <a:latin typeface="Cambria"/>
              <a:cs typeface="Cambria"/>
            </a:endParaRPr>
          </a:p>
          <a:p>
            <a:pPr marL="298450" marR="456565" indent="-285750">
              <a:lnSpc>
                <a:spcPct val="1161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endParaRPr lang="en-US" spc="175" dirty="0">
              <a:solidFill>
                <a:schemeClr val="accent2">
                  <a:lumMod val="20000"/>
                  <a:lumOff val="80000"/>
                </a:schemeClr>
              </a:solidFill>
              <a:latin typeface="Cambria"/>
              <a:cs typeface="Cambria"/>
            </a:endParaRPr>
          </a:p>
          <a:p>
            <a:pPr marL="12700" marR="456565">
              <a:lnSpc>
                <a:spcPct val="116100"/>
              </a:lnSpc>
              <a:spcBef>
                <a:spcPts val="100"/>
              </a:spcBef>
            </a:pP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  <a:latin typeface="Cambria"/>
              <a:cs typeface="Cambri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097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251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</vt:lpstr>
      <vt:lpstr>Wingdings</vt:lpstr>
      <vt:lpstr>Office Theme</vt:lpstr>
      <vt:lpstr>The main objective of this project is to analyze retail sales data to gain actionable insights that will enhance the performance of the Coffee Shop.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2026-10-06T12:52:38Z</dcterms:created>
  <dcterms:modified xsi:type="dcterms:W3CDTF">2026-10-06T13:16:55Z</dcterms:modified>
</cp:coreProperties>
</file>